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ExpenseAI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3B82F6"/>
                </a:solidFill>
                <a:latin typeface="Calibri"/>
              </a:rPr>
              <a:t>Receipts In.     Report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77639"/>
            <a:ext cx="484632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Dheeraj Chowdary Anne   ·   [Partner Name]   ·   [Course Number]   ·   [Instructor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4A6B"/>
                </a:solidFill>
                <a:latin typeface="Calibri"/>
              </a:rPr>
              <a:t>Agentic AI for Expense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Today's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371600"/>
            <a:ext cx="2560320" cy="3931920"/>
          </a:xfrm>
          <a:prstGeom prst="rect">
            <a:avLst/>
          </a:prstGeom>
          <a:solidFill>
            <a:srgbClr val="2D0D0D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554480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80360"/>
            <a:ext cx="23774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The Broken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7016" y="1371600"/>
            <a:ext cx="2560320" cy="3931920"/>
          </a:xfrm>
          <a:prstGeom prst="rect">
            <a:avLst/>
          </a:prstGeom>
          <a:solidFill>
            <a:srgbClr val="0D1A2D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554480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880360"/>
            <a:ext cx="23774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Our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371600"/>
            <a:ext cx="2560320" cy="3931920"/>
          </a:xfrm>
          <a:prstGeom prst="rect">
            <a:avLst/>
          </a:prstGeom>
          <a:solidFill>
            <a:srgbClr val="2D1E05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54480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880360"/>
            <a:ext cx="23774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The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371600"/>
            <a:ext cx="2560320" cy="3931920"/>
          </a:xfrm>
          <a:prstGeom prst="rect">
            <a:avLst/>
          </a:prstGeom>
          <a:solidFill>
            <a:srgbClr val="0D2D1A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554480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880360"/>
            <a:ext cx="23774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Live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852160" cy="6793992"/>
          </a:xfrm>
          <a:prstGeom prst="rect">
            <a:avLst/>
          </a:prstGeom>
          <a:solidFill>
            <a:srgbClr val="2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✗   Templates fail messy receipts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✗   Rules coded.  Always 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✗   Humans review everything.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64008"/>
            <a:ext cx="6199632" cy="6793992"/>
          </a:xfrm>
          <a:prstGeom prst="rect">
            <a:avLst/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7548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C55E"/>
                </a:solidFill>
                <a:latin typeface="Calibri"/>
              </a:rPr>
              <a:t>We Fixed All Three.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✓   Vision AI.  Zero templates.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✓   Live web search.  Always current.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✓   RAG learns your policies.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5212080"/>
            <a:ext cx="3749039" cy="621792"/>
          </a:xfrm>
          <a:prstGeom prst="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5266944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Zero-template extraction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5212080"/>
            <a:ext cx="3749039" cy="621792"/>
          </a:xfrm>
          <a:prstGeom prst="rect">
            <a:avLst/>
          </a:prstGeom>
          <a:solidFill>
            <a:srgbClr val="1A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3" y="5266944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Real-time rate lookup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5212080"/>
            <a:ext cx="3749039" cy="621792"/>
          </a:xfrm>
          <a:prstGeom prst="rect">
            <a:avLst/>
          </a:prstGeom>
          <a:solidFill>
            <a:srgbClr val="1A1A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5266944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Instant policy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Three Agents.  One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Multimodal Vision   ·   Agentic Tool-Use Loop (Anthropic Messages API)   ·  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88720"/>
            <a:ext cx="1261872" cy="960120"/>
          </a:xfrm>
          <a:prstGeom prst="rect">
            <a:avLst/>
          </a:prstGeom>
          <a:solidFill>
            <a:srgbClr val="1A1A2E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225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Receipt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image /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447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48256" y="1188720"/>
            <a:ext cx="2542032" cy="960120"/>
          </a:xfrm>
          <a:prstGeom prst="rect">
            <a:avLst/>
          </a:prstGeom>
          <a:solidFill>
            <a:srgbClr val="2D0D0D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325880"/>
            <a:ext cx="25054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  <a:latin typeface="Calibri"/>
              </a:rPr>
              <a:t>Claude Vision</a:t>
            </a:r>
          </a:p>
          <a:p>
            <a:pPr algn="ctr"/>
            <a:r>
              <a:rPr sz="1500" b="1" i="0">
                <a:solidFill>
                  <a:srgbClr val="EF4444"/>
                </a:solidFill>
                <a:latin typeface="Calibri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4447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3931920" cy="960120"/>
          </a:xfrm>
          <a:prstGeom prst="rect">
            <a:avLst/>
          </a:prstGeom>
          <a:solidFill>
            <a:srgbClr val="0D1A2D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325880"/>
            <a:ext cx="38953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Policy Verification Agent</a:t>
            </a:r>
          </a:p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Agentic Tool-Use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14447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00032" y="1188720"/>
            <a:ext cx="2441448" cy="960120"/>
          </a:xfrm>
          <a:prstGeom prst="rect">
            <a:avLst/>
          </a:prstGeom>
          <a:solidFill>
            <a:srgbClr val="0D2D1A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325880"/>
            <a:ext cx="2404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C55E"/>
                </a:solidFill>
                <a:latin typeface="Calibri"/>
              </a:rPr>
              <a:t>Report</a:t>
            </a:r>
          </a:p>
          <a:p>
            <a:pPr algn="ctr"/>
            <a:r>
              <a:rPr sz="1500" b="1" i="0">
                <a:solidFill>
                  <a:srgbClr val="22C55E"/>
                </a:solidFill>
                <a:latin typeface="Calibri"/>
              </a:rPr>
              <a:t>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176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176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48256" y="2468880"/>
            <a:ext cx="2542032" cy="2331720"/>
          </a:xfrm>
          <a:prstGeom prst="rect">
            <a:avLst/>
          </a:prstGeom>
          <a:solidFill>
            <a:srgbClr val="2D0D0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2596896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Claude Vision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3035808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Model  claude-sonnet-4-6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7984" y="3383280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Input  base64 image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3730752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Format JPEG/PNG/HEIC/PDF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7984" y="4078224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Output JSON {amount, date,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7984" y="4425696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       vendor, confidence}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468880"/>
            <a:ext cx="3931920" cy="2331720"/>
          </a:xfrm>
          <a:prstGeom prst="rect">
            <a:avLst/>
          </a:prstGeom>
          <a:solidFill>
            <a:srgbClr val="0D1A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2596896"/>
            <a:ext cx="37124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max_iter = 6  ·  stop_reason = tool_use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30175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C5FD"/>
                </a:solidFill>
                <a:latin typeface="Calibri"/>
              </a:rPr>
              <a:t>Tool 1: rag_search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338328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ChromaDB (HNSW)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371246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all-MiniLM-L6-v2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04164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384-dim, cosine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37083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Top-k=4, θ≥0.5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2980944"/>
            <a:ext cx="27432" cy="169163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12864" y="349300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⇨ fallback</a:t>
            </a:r>
          </a:p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if score</a:t>
            </a:r>
          </a:p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&lt; 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0175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  <a:latin typeface="Calibri"/>
              </a:rPr>
              <a:t>Tool 2: web_search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3383280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Tavily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371246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gsa.gov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404164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irs.gov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437083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live rates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00032" y="2468880"/>
            <a:ext cx="2441448" cy="2331720"/>
          </a:xfrm>
          <a:prstGeom prst="rect">
            <a:avLst/>
          </a:prstGeom>
          <a:solidFill>
            <a:srgbClr val="0D2D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2596896"/>
            <a:ext cx="2221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Report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035808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WeasyPrint + Jinja2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383280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HTML →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3730752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SQLite session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078224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CSV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425696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Audit-ready 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" y="4956048"/>
            <a:ext cx="2401214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5020056"/>
            <a:ext cx="227319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FastAPI + uvicorn</a:t>
            </a:r>
          </a:p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async REST 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6078" y="4956048"/>
            <a:ext cx="2401214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9230" y="5020056"/>
            <a:ext cx="227319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asyncio.gather()</a:t>
            </a:r>
          </a:p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Semaphore(4)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3868" y="4956048"/>
            <a:ext cx="2401214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67020" y="5020056"/>
            <a:ext cx="227319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  <a:latin typeface="Calibri"/>
              </a:rPr>
              <a:t>WebSocket</a:t>
            </a:r>
          </a:p>
          <a:p>
            <a:pPr algn="ctr"/>
            <a:r>
              <a:rPr sz="1100" b="0" i="0">
                <a:solidFill>
                  <a:srgbClr val="22C55E"/>
                </a:solidFill>
                <a:latin typeface="Calibri"/>
              </a:rPr>
              <a:t>real-time updates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1659" y="4956048"/>
            <a:ext cx="2401214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4811" y="5020056"/>
            <a:ext cx="227319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SQLite + SQLAlchemy</a:t>
            </a:r>
          </a:p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session persistence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69449" y="4956048"/>
            <a:ext cx="2401214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2601" y="5020056"/>
            <a:ext cx="227319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WeasyPrint + Jinja2</a:t>
            </a:r>
          </a:p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PDF rendering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60%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HITL Routing   ·   Cosine Similarity   ·   GSA M&amp;IE Compliance   ·   Agentic Tool-Use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05840"/>
            <a:ext cx="2542032" cy="1664208"/>
          </a:xfrm>
          <a:prstGeom prst="rect">
            <a:avLst/>
          </a:prstGeom>
          <a:solidFill>
            <a:srgbClr val="2D0D0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⚠  Flag for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72768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low image 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83664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ambiguous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94560"/>
            <a:ext cx="2304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missing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0992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← 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005840"/>
            <a:ext cx="5486400" cy="1664208"/>
          </a:xfrm>
          <a:prstGeom prst="rect">
            <a:avLst/>
          </a:prstGeom>
          <a:solidFill>
            <a:srgbClr val="2D1E0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078992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Confidence Gate  —  HITL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499616"/>
            <a:ext cx="52303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       ⎧ auto_approve(r)   conf(r) ≥ τ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route(r)=⎨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       ⎩ flag_review(r)    conf(r) &lt; 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286000"/>
            <a:ext cx="5230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D87A"/>
                </a:solidFill>
                <a:latin typeface="Courier New"/>
              </a:rPr>
              <a:t>τ = 0.6     conf : X → [0.0, 1.0]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1709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YES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00032" y="1005840"/>
            <a:ext cx="2441448" cy="1664208"/>
          </a:xfrm>
          <a:prstGeom prst="rect">
            <a:avLst/>
          </a:prstGeom>
          <a:solidFill>
            <a:srgbClr val="0D2D1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097280"/>
            <a:ext cx="2221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✓  Auto-Approve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572768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within policy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883664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approved_amt stored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2221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urier New"/>
              </a:rPr>
              <a:t>· PDF generated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907792"/>
            <a:ext cx="3697224" cy="2926080"/>
          </a:xfrm>
          <a:prstGeom prst="rect">
            <a:avLst/>
          </a:prstGeom>
          <a:solidFill>
            <a:srgbClr val="1A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035808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Semantic Retrieval  (RAG)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474720"/>
            <a:ext cx="344119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sim(q,d) = cos(Eθ(q), Eθ(d))</a:t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         Eθ(q) · Eθ(d)</a:t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       = ────────────────</a:t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         ‖Eθ(q)‖ · ‖Eθ(d)‖</a:t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Eθ = all-MiniLM-L6-v2 (d=384)</a:t>
            </a:r>
          </a:p>
          <a:p>
            <a:pPr algn="l"/>
            <a:r>
              <a:rPr sz="1250" b="0" i="0">
                <a:solidFill>
                  <a:srgbClr val="94A3B8"/>
                </a:solidFill>
                <a:latin typeface="Courier New"/>
              </a:rPr>
              <a:t>Retrieve: D* = {d | sim ≥ 0.5}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5864" y="2907792"/>
            <a:ext cx="3697224" cy="29260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3880" y="3035808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GSA M&amp;IE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3880" y="3474720"/>
            <a:ext cx="344119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cap(l,t)=GSA_rate(city,YM)×δ(t)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     ⎧ 0.75  t∈{t_first,t_last}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δ(t) = ⎨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     ⎩ 1.00  otherwise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a_i = min(x_i, cap(l_i, t_i))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Daily: if Σx_i &gt; cap_d: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a_i ← x_i×(cap_d/Σx_i)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4256" y="2907792"/>
            <a:ext cx="3697224" cy="2926080"/>
          </a:xfrm>
          <a:prstGeom prst="rect">
            <a:avLst/>
          </a:prstGeom>
          <a:solidFill>
            <a:srgbClr val="1A1A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2272" y="3035808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Agentic Tool-Use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2272" y="3474720"/>
            <a:ext cx="344119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msgs ← [system, user_ctx]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for t=0…MAX_ITER-1: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r_t ← LLM(msgs, tools)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if r_t.stop=end_turn: break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T_t={b|b.type=tool_use}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R_t=⋃ execute(b) ∀b∈T_t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  msgs += tool_results(R_t)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MAX_ITER=6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Tools:{rag_search,web_search}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It Just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325880"/>
            <a:ext cx="6400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566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71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No templates.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EF4444"/>
                </a:solidFill>
                <a:latin typeface="Calibri"/>
              </a:rPr>
              <a:t>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2697480"/>
            <a:ext cx="64008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566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B82F6"/>
                </a:solidFill>
                <a:latin typeface="Calibr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43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Always current 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406908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42232"/>
            <a:ext cx="566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2C55E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14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Humans only when uncertain.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188720"/>
            <a:ext cx="4892040" cy="4526280"/>
          </a:xfrm>
          <a:prstGeom prst="rect">
            <a:avLst/>
          </a:prstGeom>
          <a:solidFill>
            <a:srgbClr val="1A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41732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[ Dashboard Screenshot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103120"/>
            <a:ext cx="4526280" cy="914400"/>
          </a:xfrm>
          <a:prstGeom prst="rect">
            <a:avLst/>
          </a:prstGeom>
          <a:solidFill>
            <a:srgbClr val="0D2D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167128"/>
            <a:ext cx="4343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  <a:latin typeface="Calibri"/>
              </a:rPr>
              <a:t>✓   $521.72  Auto-Approved</a:t>
            </a:r>
          </a:p>
          <a:p>
            <a:pPr algn="l"/>
            <a:r>
              <a:rPr sz="1300" b="0" i="0">
                <a:solidFill>
                  <a:srgbClr val="22C55E"/>
                </a:solidFill>
                <a:latin typeface="Calibri"/>
              </a:rPr>
              <a:t>      airfare + hotel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246120"/>
            <a:ext cx="4526280" cy="914400"/>
          </a:xfrm>
          <a:prstGeom prst="rect">
            <a:avLst/>
          </a:prstGeom>
          <a:solidFill>
            <a:srgbClr val="2D0D0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310128"/>
            <a:ext cx="4343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⚠   $0.00  Flagged for Review</a:t>
            </a:r>
          </a:p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      mileage — incomplete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4476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4748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